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M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959E4C-E2CC-47DA-B957-B35C371D8D8E}" type="datetimeFigureOut">
              <a:rPr lang="en-ZM" smtClean="0"/>
              <a:t>15/06/2026</a:t>
            </a:fld>
            <a:endParaRPr lang="en-ZM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M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C03FD-5F6D-487B-BA2B-6FA0C3E2648A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611908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M" sz="1200" b="1" i="0" kern="1200" dirty="0">
              <a:solidFill>
                <a:srgbClr val="FFFFFF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C03FD-5F6D-487B-BA2B-6FA0C3E2648A}" type="slidenum">
              <a:rPr lang="en-ZM" smtClean="0"/>
              <a:t>7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019257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108960" cy="347472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AGRICULTURE TRADE ANALYSIS  2013 – 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Zambia's Trade Story: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E85D04"/>
                </a:solidFill>
                <a:latin typeface="Calibri"/>
              </a:rPr>
              <a:t>K33 Billion Warning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0E0E0"/>
                </a:solidFill>
                <a:latin typeface="Calibri"/>
              </a:rPr>
              <a:t>How Currency Volatility is Amplifying the Agriculture
Import-Export Deficit (2013–2022)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4572000" cy="36576"/>
          </a:xfrm>
          <a:prstGeom prst="rect">
            <a:avLst/>
          </a:prstGeom>
          <a:solidFill>
            <a:srgbClr val="A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544568"/>
            <a:ext cx="7315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300" b="0" i="0" dirty="0">
                <a:solidFill>
                  <a:srgbClr val="A0A8B8"/>
                </a:solidFill>
                <a:latin typeface="Calibri"/>
              </a:rPr>
              <a:t>Daniel Sinyinza</a:t>
            </a:r>
            <a:r>
              <a:rPr sz="1300" b="0" i="0" dirty="0">
                <a:solidFill>
                  <a:srgbClr val="A0A8B8"/>
                </a:solidFill>
                <a:latin typeface="Calibri"/>
              </a:rPr>
              <a:t>|  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45920"/>
            <a:ext cx="347472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18105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0A8B8"/>
                </a:solidFill>
                <a:latin typeface="Calibri"/>
              </a:rPr>
              <a:t>CUMULATIVE DEFICIT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C1121F"/>
                </a:solidFill>
                <a:latin typeface="Calibri"/>
              </a:rPr>
              <a:t>-K33.4bn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3246120"/>
            <a:ext cx="2926080" cy="27432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A0A8B8"/>
                </a:solidFill>
                <a:latin typeface="Calibri"/>
              </a:rPr>
              <a:t>TOTAL IMPORTS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6118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5D04"/>
                </a:solidFill>
                <a:latin typeface="Calibri"/>
              </a:rPr>
              <a:t>K110.04bn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A0A8B8"/>
                </a:solidFill>
                <a:latin typeface="Calibri"/>
              </a:rPr>
              <a:t>TOTAL EXPORTS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5262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D6FA4"/>
                </a:solidFill>
                <a:latin typeface="Calibri"/>
              </a:rPr>
              <a:t>K76.65bn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7315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A0A8B8"/>
                </a:solidFill>
                <a:latin typeface="Calibri"/>
              </a:rPr>
              <a:t> Storytelling with Data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017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Zambia Flipped from Surplus to Structural Deficit in Under a Decade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1D6FA4"/>
                </a:solidFill>
                <a:latin typeface="Calibri"/>
              </a:rPr>
              <a:t>THE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550" b="0">
                <a:solidFill>
                  <a:srgbClr val="E0E0E0"/>
                </a:solidFill>
                <a:latin typeface="Calibri"/>
              </a:rPr>
              <a:t>In 2013, Zambia exported MORE than it imported.</a:t>
            </a:r>
          </a:p>
          <a:p>
            <a:pPr algn="l">
              <a:lnSpc>
                <a:spcPct val="114999"/>
              </a:lnSpc>
            </a:pPr>
            <a:endParaRPr sz="1550" b="0">
              <a:solidFill>
                <a:srgbClr val="E0E0E0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550" b="0">
                <a:solidFill>
                  <a:srgbClr val="E0E0E0"/>
                </a:solidFill>
                <a:latin typeface="Calibri"/>
              </a:rPr>
              <a:t>By 2022, the annual trade deficit reached K9.3 billion —</a:t>
            </a:r>
          </a:p>
          <a:p>
            <a:pPr algn="l">
              <a:lnSpc>
                <a:spcPct val="114999"/>
              </a:lnSpc>
            </a:pPr>
            <a:r>
              <a:rPr sz="1550" b="0">
                <a:solidFill>
                  <a:srgbClr val="E0E0E0"/>
                </a:solidFill>
                <a:latin typeface="Calibri"/>
              </a:rPr>
              <a:t>part of a cumulative K33.4 billion shortfall over the decade.</a:t>
            </a:r>
          </a:p>
          <a:p>
            <a:pPr algn="l">
              <a:lnSpc>
                <a:spcPct val="114999"/>
              </a:lnSpc>
            </a:pPr>
            <a:endParaRPr sz="1550" b="0">
              <a:solidFill>
                <a:srgbClr val="E0E0E0"/>
              </a:solidFill>
              <a:latin typeface="Calibri"/>
            </a:endParaRPr>
          </a:p>
          <a:p>
            <a:pPr algn="l">
              <a:lnSpc>
                <a:spcPct val="114999"/>
              </a:lnSpc>
            </a:pPr>
            <a:r>
              <a:rPr sz="1550" b="0">
                <a:solidFill>
                  <a:srgbClr val="E0E0E0"/>
                </a:solidFill>
                <a:latin typeface="Calibri"/>
              </a:rPr>
              <a:t>This is not a temporary shock. It is a structural shift</a:t>
            </a:r>
          </a:p>
          <a:p>
            <a:pPr algn="l">
              <a:lnSpc>
                <a:spcPct val="114999"/>
              </a:lnSpc>
            </a:pPr>
            <a:r>
              <a:rPr sz="1550" b="0">
                <a:solidFill>
                  <a:srgbClr val="E0E0E0"/>
                </a:solidFill>
                <a:latin typeface="Calibri"/>
              </a:rPr>
              <a:t>driven by currency depreciation, import dependency,</a:t>
            </a:r>
          </a:p>
          <a:p>
            <a:pPr algn="l">
              <a:lnSpc>
                <a:spcPct val="114999"/>
              </a:lnSpc>
            </a:pPr>
            <a:r>
              <a:rPr sz="1550" b="0">
                <a:solidFill>
                  <a:srgbClr val="E0E0E0"/>
                </a:solidFill>
                <a:latin typeface="Calibri"/>
              </a:rPr>
              <a:t>and low-value commodity exports.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892040"/>
            <a:ext cx="242316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4956048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A0A8B8"/>
                </a:solidFill>
                <a:latin typeface="Calibri"/>
              </a:rPr>
              <a:t>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523036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C653"/>
                </a:solidFill>
                <a:latin typeface="Calibri"/>
              </a:rPr>
              <a:t>+K1.23bn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7424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A8B8"/>
                </a:solidFill>
                <a:latin typeface="Calibri"/>
              </a:rPr>
              <a:t>TRADE SURPLUS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99816" y="4856804"/>
            <a:ext cx="242316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63824" y="4878877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A0A8B8"/>
                </a:solidFill>
                <a:latin typeface="Calibri"/>
              </a:rPr>
              <a:t>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519379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C1121F"/>
                </a:solidFill>
                <a:latin typeface="Calibri"/>
              </a:rPr>
              <a:t>-K9.27bn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7540" y="57424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A0A8B8"/>
                </a:solidFill>
                <a:latin typeface="Calibri"/>
              </a:rPr>
              <a:t>TRADE DEFICIT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0904" y="527608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C1121F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280160"/>
            <a:ext cx="594360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1417320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A0A8B8"/>
                </a:solidFill>
                <a:latin typeface="Calibri"/>
              </a:rPr>
              <a:t>10-YEAR SCORECARD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783080"/>
            <a:ext cx="5394960" cy="128016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1828800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TOTAL IMPORTS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084831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K110.04 billion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154680"/>
            <a:ext cx="5394960" cy="1280160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3200400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TOTAL EXPORTS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456432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K76.65 billion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4526280"/>
            <a:ext cx="5394960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4553712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CUMULATIVE DEFICIT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77316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-K33.39 billion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37960"/>
            <a:ext cx="10515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800" b="0" i="0" dirty="0">
                <a:solidFill>
                  <a:srgbClr val="A0A8B8"/>
                </a:solidFill>
                <a:latin typeface="Calibri"/>
              </a:rPr>
              <a:t>Data: Bank of Zambia</a:t>
            </a:r>
            <a:endParaRPr sz="800" b="0" i="0" dirty="0">
              <a:solidFill>
                <a:srgbClr val="A0A8B8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8B8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017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Imports Grew 428%. Exports Grew 138%. The Gap Tells the Story.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98448"/>
            <a:ext cx="11430000" cy="4846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371600"/>
            <a:ext cx="1097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A0A8B8"/>
                </a:solidFill>
                <a:latin typeface="Calibri"/>
              </a:rPr>
              <a:t>ZMW (billions)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003673"/>
            <a:ext cx="10744200" cy="9144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4893945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A0A8B8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36897"/>
            <a:ext cx="10744200" cy="9144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4027169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A0A8B8"/>
                </a:solidFill>
                <a:latin typeface="Calibri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270123"/>
            <a:ext cx="10744200" cy="9144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160395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A0A8B8"/>
                </a:solidFill>
                <a:latin typeface="Calibri"/>
              </a:rPr>
              <a:t>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403348"/>
            <a:ext cx="10744200" cy="9144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293620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A0A8B8"/>
                </a:solidFill>
                <a:latin typeface="Calibri"/>
              </a:rP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5707" y="5140623"/>
            <a:ext cx="406542" cy="729824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537837" y="4927396"/>
            <a:ext cx="406542" cy="943051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02436" y="5907024"/>
            <a:ext cx="585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A0A8B8"/>
                </a:solidFill>
                <a:latin typeface="Calibri"/>
              </a:rPr>
              <a:t>2013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15555" y="5069547"/>
            <a:ext cx="406542" cy="8009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07685" y="5050478"/>
            <a:ext cx="406542" cy="819969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72284" y="5907024"/>
            <a:ext cx="585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A0A8B8"/>
                </a:solidFill>
                <a:latin typeface="Calibri"/>
              </a:rPr>
              <a:t>2014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85403" y="4651762"/>
            <a:ext cx="406542" cy="1218685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77533" y="4845919"/>
            <a:ext cx="406542" cy="1024528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42132" y="5897879"/>
            <a:ext cx="585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dirty="0">
                <a:solidFill>
                  <a:srgbClr val="A0A8B8"/>
                </a:solidFill>
                <a:latin typeface="Calibri"/>
              </a:rPr>
              <a:t>2015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5251" y="4606690"/>
            <a:ext cx="406542" cy="1263757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747381" y="4790446"/>
            <a:ext cx="406542" cy="1080001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11980" y="5907024"/>
            <a:ext cx="585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dirty="0">
                <a:solidFill>
                  <a:srgbClr val="A0A8B8"/>
                </a:solidFill>
                <a:latin typeface="Calibri"/>
              </a:rPr>
              <a:t>2016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5099" y="4235710"/>
            <a:ext cx="406542" cy="1634737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817229" y="4946465"/>
            <a:ext cx="406542" cy="923982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1828" y="5907024"/>
            <a:ext cx="585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dirty="0">
                <a:solidFill>
                  <a:srgbClr val="A0A8B8"/>
                </a:solidFill>
                <a:latin typeface="Calibri"/>
              </a:rPr>
              <a:t>2017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94947" y="4268647"/>
            <a:ext cx="406542" cy="16018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87077" y="4901393"/>
            <a:ext cx="406542" cy="969054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51676" y="5907024"/>
            <a:ext cx="585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dirty="0">
                <a:solidFill>
                  <a:srgbClr val="A0A8B8"/>
                </a:solidFill>
                <a:latin typeface="Calibri"/>
              </a:rPr>
              <a:t>2018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64795" y="4067556"/>
            <a:ext cx="406542" cy="180289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56925" y="4728038"/>
            <a:ext cx="406542" cy="1142409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21524" y="5907024"/>
            <a:ext cx="585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dirty="0">
                <a:solidFill>
                  <a:srgbClr val="A0A8B8"/>
                </a:solidFill>
                <a:latin typeface="Calibri"/>
              </a:rPr>
              <a:t>2019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34643" y="3190379"/>
            <a:ext cx="406542" cy="268006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26773" y="4188904"/>
            <a:ext cx="406542" cy="1681543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91372" y="5907024"/>
            <a:ext cx="585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dirty="0">
                <a:solidFill>
                  <a:srgbClr val="A0A8B8"/>
                </a:solidFill>
                <a:latin typeface="Calibri"/>
              </a:rPr>
              <a:t>2020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4491" y="2380811"/>
            <a:ext cx="406542" cy="348963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096621" y="3414007"/>
            <a:ext cx="406542" cy="2456440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761220" y="5907024"/>
            <a:ext cx="585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dirty="0">
                <a:solidFill>
                  <a:srgbClr val="A0A8B8"/>
                </a:solidFill>
                <a:latin typeface="Calibri"/>
              </a:rPr>
              <a:t>2021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74339" y="2018499"/>
            <a:ext cx="406542" cy="385194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1166469" y="3625500"/>
            <a:ext cx="406542" cy="2244947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831068" y="5907024"/>
            <a:ext cx="585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dirty="0">
                <a:solidFill>
                  <a:srgbClr val="A0A8B8"/>
                </a:solidFill>
                <a:latin typeface="Calibri"/>
              </a:rPr>
              <a:t>2022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1920240"/>
            <a:ext cx="1554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DC653"/>
                </a:solidFill>
                <a:latin typeface="Calibri"/>
              </a:rPr>
              <a:t>2013: Surplus
(Exports &gt; Imports)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6120" y="160020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5D04"/>
                </a:solidFill>
                <a:latin typeface="Calibri"/>
              </a:rPr>
              <a:t>2015–17:
Deficit
began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1463040"/>
            <a:ext cx="1554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5D04"/>
                </a:solidFill>
                <a:latin typeface="Calibri"/>
              </a:rPr>
              <a:t>2020–21:
COVID-era
acceleration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61120" y="6291072"/>
            <a:ext cx="201168" cy="20116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98864" y="6281928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0E0E0"/>
                </a:solidFill>
                <a:latin typeface="Calibri"/>
              </a:rPr>
              <a:t>Imports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241280" y="6291072"/>
            <a:ext cx="201168" cy="201168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479024" y="6281928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0E0E0"/>
                </a:solidFill>
                <a:latin typeface="Calibri"/>
              </a:rPr>
              <a:t>Exports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6309360"/>
            <a:ext cx="685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4A261"/>
                </a:solidFill>
                <a:latin typeface="Calibri"/>
              </a:rPr>
              <a:t>Import CAGR ~18%  vs  Export CAGR ~10%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6537960"/>
            <a:ext cx="10515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800" b="0" i="0" dirty="0">
                <a:solidFill>
                  <a:srgbClr val="A0A8B8"/>
                </a:solidFill>
                <a:latin typeface="Calibri"/>
              </a:rPr>
              <a:t>Data: Zambia Statistics Agency</a:t>
            </a:r>
            <a:endParaRPr sz="800" b="0" i="0" dirty="0">
              <a:solidFill>
                <a:srgbClr val="A0A8B8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8B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017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The Numbers Lie: Currency Depreciation is Inflating Both Sides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4A261"/>
                </a:solidFill>
                <a:latin typeface="Calibri"/>
              </a:rPr>
              <a:t>THE TWIST — CURRENCY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64208"/>
            <a:ext cx="539496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402336" cy="50292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9536" y="2148840"/>
            <a:ext cx="704088" cy="50292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63624" y="2148840"/>
            <a:ext cx="1005839" cy="502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69464" y="2148840"/>
            <a:ext cx="1156716" cy="50292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26180" y="2148840"/>
            <a:ext cx="1760220" cy="50292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18288" cy="137160"/>
          </a:xfrm>
          <a:prstGeom prst="rect">
            <a:avLst/>
          </a:prstGeom>
          <a:solidFill>
            <a:srgbClr val="A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2798064"/>
            <a:ext cx="3840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A0A8B8"/>
                </a:solidFill>
                <a:latin typeface="Calibri"/>
              </a:rPr>
              <a:t>2013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892808"/>
            <a:ext cx="4023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~5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74800" y="2651760"/>
            <a:ext cx="18288" cy="137160"/>
          </a:xfrm>
          <a:prstGeom prst="rect">
            <a:avLst/>
          </a:prstGeom>
          <a:solidFill>
            <a:srgbClr val="A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91920" y="2798064"/>
            <a:ext cx="3840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dirty="0">
                <a:solidFill>
                  <a:srgbClr val="A0A8B8"/>
                </a:solidFill>
                <a:latin typeface="Calibri"/>
              </a:rPr>
              <a:t>2015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1920" y="1892808"/>
            <a:ext cx="487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Calibri"/>
              </a:rPr>
              <a:t>~8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2400" y="2651760"/>
            <a:ext cx="18288" cy="137160"/>
          </a:xfrm>
          <a:prstGeom prst="rect">
            <a:avLst/>
          </a:prstGeom>
          <a:solidFill>
            <a:srgbClr val="A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09520" y="2798064"/>
            <a:ext cx="3840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dirty="0">
                <a:solidFill>
                  <a:srgbClr val="A0A8B8"/>
                </a:solidFill>
                <a:latin typeface="Calibri"/>
              </a:rPr>
              <a:t>2017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9520" y="1892808"/>
            <a:ext cx="4749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Calibri"/>
              </a:rPr>
              <a:t>~9.5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10000" y="2651760"/>
            <a:ext cx="18288" cy="137160"/>
          </a:xfrm>
          <a:prstGeom prst="rect">
            <a:avLst/>
          </a:prstGeom>
          <a:solidFill>
            <a:srgbClr val="A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27120" y="2798064"/>
            <a:ext cx="3840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dirty="0">
                <a:solidFill>
                  <a:srgbClr val="A0A8B8"/>
                </a:solidFill>
                <a:latin typeface="Calibri"/>
              </a:rPr>
              <a:t>2019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7120" y="1892808"/>
            <a:ext cx="487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Calibri"/>
              </a:rPr>
              <a:t>~12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8800" y="2651760"/>
            <a:ext cx="18288" cy="137160"/>
          </a:xfrm>
          <a:prstGeom prst="rect">
            <a:avLst/>
          </a:prstGeom>
          <a:solidFill>
            <a:srgbClr val="A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85920" y="2798064"/>
            <a:ext cx="3840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dirty="0">
                <a:solidFill>
                  <a:srgbClr val="A0A8B8"/>
                </a:solidFill>
                <a:latin typeface="Calibri"/>
              </a:rPr>
              <a:t>2020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85920" y="1892808"/>
            <a:ext cx="487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Calibri"/>
              </a:rPr>
              <a:t>~21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2651760"/>
            <a:ext cx="18288" cy="137160"/>
          </a:xfrm>
          <a:prstGeom prst="rect">
            <a:avLst/>
          </a:prstGeom>
          <a:solidFill>
            <a:srgbClr val="A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3520" y="2798064"/>
            <a:ext cx="3840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dirty="0">
                <a:solidFill>
                  <a:srgbClr val="A0A8B8"/>
                </a:solidFill>
                <a:latin typeface="Calibri"/>
              </a:rPr>
              <a:t>2022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8072" y="1772258"/>
            <a:ext cx="5212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Calibri"/>
              </a:rPr>
              <a:t>~17-21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1655064"/>
            <a:ext cx="1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A0A8B8"/>
                </a:solidFill>
                <a:latin typeface="Calibri"/>
              </a:rPr>
              <a:t>ZMW per USD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182112"/>
            <a:ext cx="1700784" cy="1572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3182112"/>
            <a:ext cx="1700784" cy="25603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" y="3209544"/>
            <a:ext cx="16093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IMPORT INFLATION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" y="3502152"/>
            <a:ext cx="157276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0E0E0"/>
                </a:solidFill>
                <a:latin typeface="Calibri"/>
              </a:rPr>
              <a:t>K4.2bn (2013) → K22.2bn (2022)
Same USD volume, 4× the ZMW cost
due to ~75% Kwacha depreciation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66544" y="3182112"/>
            <a:ext cx="1700784" cy="1572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066544" y="3182112"/>
            <a:ext cx="1700784" cy="256032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12264" y="3209544"/>
            <a:ext cx="16093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EXPORT ILLUSION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30552" y="3502152"/>
            <a:ext cx="157276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0E0E0"/>
                </a:solidFill>
                <a:latin typeface="Calibri"/>
              </a:rPr>
              <a:t>Tobacco/maize volumes barely grew.
ZMW gains are translation effects,
not real volume expansion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58768" y="3182112"/>
            <a:ext cx="1700784" cy="1572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858768" y="3182112"/>
            <a:ext cx="1700784" cy="256032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904488" y="3209544"/>
            <a:ext cx="16093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THE REALITY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22776" y="3502152"/>
            <a:ext cx="15727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0E0E0"/>
                </a:solidFill>
                <a:latin typeface="Calibri"/>
              </a:rPr>
              <a:t>"Nominal growth is NOT real growth
when your currency has lost
75% of its value"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1298448"/>
            <a:ext cx="594360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26480" y="1417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A0A8B8"/>
                </a:solidFill>
                <a:latin typeface="Calibri"/>
              </a:rPr>
              <a:t>IMPORT COST REALITY CHECK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1783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2DC653"/>
                </a:solidFill>
                <a:latin typeface="Calibri"/>
              </a:rPr>
              <a:t>K4.2bn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2487168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0A8B8"/>
                </a:solidFill>
                <a:latin typeface="Calibri"/>
              </a:rPr>
              <a:t>2013 imports at ~5 ZMW/USD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A261"/>
                </a:solidFill>
                <a:latin typeface="Calibri"/>
              </a:rPr>
              <a:t>≈ same USD volume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3218688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C1121F"/>
                </a:solidFill>
                <a:latin typeface="Calibri"/>
              </a:rPr>
              <a:t>K22.2bn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3913632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A0A8B8"/>
                </a:solidFill>
                <a:latin typeface="Calibri"/>
              </a:rPr>
              <a:t>2022 imports at ~17–21 ZMW/USD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4315968"/>
            <a:ext cx="5394960" cy="27432"/>
          </a:xfrm>
          <a:prstGeom prst="rect">
            <a:avLst/>
          </a:prstGeom>
          <a:solidFill>
            <a:srgbClr val="A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26480" y="4434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E85D04"/>
                </a:solidFill>
                <a:latin typeface="Calibri"/>
              </a:rPr>
              <a:t>428% more Kwacha
for the same goods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5257800"/>
            <a:ext cx="5394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0E0E0"/>
                </a:solidFill>
                <a:latin typeface="Calibri"/>
              </a:rPr>
              <a:t>ZMW weakened from ~5/USD (2013)
to ~17–21/USD (2020–22) — a 75%+ decline.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537960"/>
            <a:ext cx="10515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800" b="0" i="0" dirty="0">
                <a:solidFill>
                  <a:srgbClr val="A0A8B8"/>
                </a:solidFill>
                <a:latin typeface="Calibri"/>
              </a:rPr>
              <a:t>Data: Bank of Zambia</a:t>
            </a:r>
            <a:endParaRPr sz="800" b="0" i="0" dirty="0">
              <a:solidFill>
                <a:srgbClr val="A0A8B8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8B8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017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Urea Dependency: Zambia Pays More Each Year to Grow the Same Crops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98448"/>
            <a:ext cx="594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A0A8B8"/>
                </a:solidFill>
                <a:latin typeface="Calibri"/>
              </a:rPr>
              <a:t>TOP IMPORTED PRODUCTS (Relative Volume)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664208"/>
            <a:ext cx="4082732" cy="217444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 dirty="0">
                <a:solidFill>
                  <a:srgbClr val="E0E0E0"/>
                </a:solidFill>
                <a:latin typeface="Calibri"/>
              </a:rPr>
              <a:t>Urea (Fertilizer)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1645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A0A8B8"/>
                </a:solidFill>
                <a:latin typeface="Calibri"/>
              </a:rPr>
              <a:t>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2011680"/>
            <a:ext cx="2958084" cy="219456"/>
          </a:xfrm>
          <a:prstGeom prst="rect">
            <a:avLst/>
          </a:prstGeom>
          <a:solidFill>
            <a:srgbClr val="F0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203911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E0E0E0"/>
                </a:solidFill>
                <a:latin typeface="Calibri"/>
              </a:rPr>
              <a:t>Mineral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11496" y="2011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A0A8B8"/>
                </a:solidFill>
                <a:latin typeface="Calibri"/>
              </a:rPr>
              <a:t>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1" y="2359152"/>
            <a:ext cx="1929384" cy="201168"/>
          </a:xfrm>
          <a:prstGeom prst="rect">
            <a:avLst/>
          </a:prstGeom>
          <a:solidFill>
            <a:srgbClr val="D4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238658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E0E0E0"/>
                </a:solidFill>
                <a:latin typeface="Calibri"/>
              </a:rPr>
              <a:t>Frozen Goods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0228" y="2368296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A0A8B8"/>
                </a:solidFill>
                <a:latin typeface="Calibri"/>
              </a:rPr>
              <a:t>41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706624"/>
            <a:ext cx="1691640" cy="217444"/>
          </a:xfrm>
          <a:prstGeom prst="rect">
            <a:avLst/>
          </a:prstGeom>
          <a:solidFill>
            <a:srgbClr val="B85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273405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E0E0E0"/>
                </a:solidFill>
                <a:latin typeface="Calibri"/>
              </a:rPr>
              <a:t>Mineral Products-2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4446" y="2697480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A0A8B8"/>
                </a:solidFill>
                <a:latin typeface="Calibri"/>
              </a:rPr>
              <a:t>36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3054096"/>
            <a:ext cx="1316736" cy="217444"/>
          </a:xfrm>
          <a:prstGeom prst="rect">
            <a:avLst/>
          </a:prstGeom>
          <a:solidFill>
            <a:srgbClr val="A04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308152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E0E0E0"/>
                </a:solidFill>
                <a:latin typeface="Calibri"/>
              </a:rPr>
              <a:t>Ammonia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3864" y="3063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0A8B8"/>
                </a:solidFill>
                <a:latin typeface="Calibri"/>
              </a:rPr>
              <a:t>28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3401568"/>
            <a:ext cx="1106424" cy="265176"/>
          </a:xfrm>
          <a:prstGeom prst="rect">
            <a:avLst/>
          </a:prstGeom>
          <a:solidFill>
            <a:srgbClr val="8A3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3429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E0E0E0"/>
                </a:solidFill>
                <a:latin typeface="Calibri"/>
              </a:rPr>
              <a:t>Other Foods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2112" y="34107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A0A8B8"/>
                </a:solidFill>
                <a:latin typeface="Calibri"/>
              </a:rPr>
              <a:t>22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3749040"/>
            <a:ext cx="955548" cy="26517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377647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E0E0E0"/>
                </a:solidFill>
                <a:latin typeface="Calibri"/>
              </a:rPr>
              <a:t>Crude Petroleum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31236" y="3758184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A0A8B8"/>
                </a:solidFill>
                <a:latin typeface="Calibri"/>
              </a:rPr>
              <a:t>19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4096512"/>
            <a:ext cx="704088" cy="265176"/>
          </a:xfrm>
          <a:prstGeom prst="rect">
            <a:avLst/>
          </a:prstGeom>
          <a:solidFill>
            <a:srgbClr val="F0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412394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E0E0E0"/>
                </a:solidFill>
                <a:latin typeface="Calibri"/>
              </a:rPr>
              <a:t>Crude Soybean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9776" y="41056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A0A8B8"/>
                </a:solidFill>
                <a:latin typeface="Calibri"/>
              </a:rPr>
              <a:t>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4443984"/>
            <a:ext cx="502920" cy="265176"/>
          </a:xfrm>
          <a:prstGeom prst="rect">
            <a:avLst/>
          </a:prstGeom>
          <a:solidFill>
            <a:srgbClr val="D4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447141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E0E0E0"/>
                </a:solidFill>
                <a:latin typeface="Calibri"/>
              </a:rPr>
              <a:t>Palm Oil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8608" y="4453128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A0A8B8"/>
                </a:solidFill>
                <a:latin typeface="Calibri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0" y="4791456"/>
            <a:ext cx="402336" cy="265176"/>
          </a:xfrm>
          <a:prstGeom prst="rect">
            <a:avLst/>
          </a:prstGeom>
          <a:solidFill>
            <a:srgbClr val="B85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4320" y="481888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E0E0E0"/>
                </a:solidFill>
                <a:latin typeface="Calibri"/>
              </a:rPr>
              <a:t>Ammonia-2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78024" y="4800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0A8B8"/>
                </a:solidFill>
                <a:latin typeface="Calibr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170078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#1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1298448"/>
            <a:ext cx="5394960" cy="5166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38544" y="13624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D04"/>
                </a:solidFill>
                <a:latin typeface="Calibri"/>
              </a:rPr>
              <a:t>THE FERTILIZER TRAP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1828800"/>
            <a:ext cx="1554480" cy="4572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20840" y="1892808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ZMW falls vs USD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79208" y="2286000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0A8B8"/>
                </a:solidFill>
                <a:latin typeface="Calibri"/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60" y="2423160"/>
            <a:ext cx="1554480" cy="457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03336" y="2430072"/>
            <a:ext cx="1463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Urea costs MORE in ZMW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0848" y="2880360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0A8B8"/>
                </a:solidFill>
                <a:latin typeface="Calibri"/>
              </a:rPr>
              <a:t>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3017520"/>
            <a:ext cx="155448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20840" y="3081528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Farmers cut usage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9208" y="3474720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0A8B8"/>
                </a:solidFill>
                <a:latin typeface="Calibri"/>
              </a:rPr>
              <a:t>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66760" y="3611880"/>
            <a:ext cx="1554480" cy="4572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12480" y="3675888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Lower crop yields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70848" y="4069080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0A8B8"/>
                </a:solidFill>
                <a:latin typeface="Calibri"/>
              </a:rPr>
              <a:t>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120" y="4206240"/>
            <a:ext cx="1554480" cy="457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720840" y="4270248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Less export revenue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79208" y="4663440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0A8B8"/>
                </a:solidFill>
                <a:latin typeface="Calibri"/>
              </a:rPr>
              <a:t>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66760" y="4800600"/>
            <a:ext cx="1554480" cy="457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412480" y="4818888"/>
            <a:ext cx="1463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More ZMW pressure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5349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C1121F"/>
                </a:solidFill>
                <a:latin typeface="Calibri"/>
              </a:rPr>
              <a:t>⟳  Self-reinforcing loop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5321808"/>
            <a:ext cx="594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F4A261"/>
                </a:solidFill>
                <a:latin typeface="Calibri"/>
              </a:rPr>
              <a:t>"The import basket is dominated by inputs
Zambia cannot produce domestically."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537960"/>
            <a:ext cx="10515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800" b="0" i="0" dirty="0">
                <a:solidFill>
                  <a:srgbClr val="A0A8B8"/>
                </a:solidFill>
                <a:latin typeface="Calibri"/>
              </a:rPr>
              <a:t>Data: Zambia Statistics Agency</a:t>
            </a:r>
            <a:endParaRPr sz="800" b="0" i="0" dirty="0">
              <a:solidFill>
                <a:srgbClr val="A0A8B8"/>
              </a:solidFill>
              <a:latin typeface="Calibr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8B8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017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Raw Commodity Exports: High Volume, Low Value-Add, Capped Upside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98448"/>
            <a:ext cx="594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A0A8B8"/>
                </a:solidFill>
                <a:latin typeface="Calibri"/>
              </a:rPr>
              <a:t>TOP EXPORTED PRODUCTS (Relative Volume)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664208"/>
            <a:ext cx="4206240" cy="245888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 dirty="0">
                <a:solidFill>
                  <a:srgbClr val="E0E0E0"/>
                </a:solidFill>
                <a:latin typeface="Calibri"/>
              </a:rPr>
              <a:t>Tobacco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2784" y="1643241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A0A8B8"/>
                </a:solidFill>
                <a:latin typeface="Calibri"/>
              </a:rPr>
              <a:t>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2011680"/>
            <a:ext cx="2706624" cy="201168"/>
          </a:xfrm>
          <a:prstGeom prst="rect">
            <a:avLst/>
          </a:prstGeom>
          <a:solidFill>
            <a:srgbClr val="2A8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203911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E0E0E0"/>
                </a:solidFill>
                <a:latin typeface="Calibri"/>
              </a:rPr>
              <a:t>Other Raw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70" y="202082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A0A8B8"/>
                </a:solidFill>
                <a:latin typeface="Calibri"/>
              </a:rPr>
              <a:t>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2359152"/>
            <a:ext cx="2039112" cy="242876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238658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E0E0E0"/>
                </a:solidFill>
                <a:latin typeface="Calibri"/>
              </a:rPr>
              <a:t>Oil Cake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236829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A0A8B8"/>
                </a:solidFill>
                <a:latin typeface="Calibri"/>
              </a:rPr>
              <a:t>42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706624"/>
            <a:ext cx="1911096" cy="265176"/>
          </a:xfrm>
          <a:prstGeom prst="rect">
            <a:avLst/>
          </a:prstGeom>
          <a:solidFill>
            <a:srgbClr val="165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2734056"/>
            <a:ext cx="1691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E0E0E0"/>
                </a:solidFill>
                <a:latin typeface="Calibri"/>
              </a:rPr>
              <a:t>Maize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6784" y="27157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A0A8B8"/>
                </a:solidFill>
                <a:latin typeface="Calibri"/>
              </a:rPr>
              <a:t>38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3054096"/>
            <a:ext cx="1508760" cy="265176"/>
          </a:xfrm>
          <a:prstGeom prst="rect">
            <a:avLst/>
          </a:prstGeom>
          <a:solidFill>
            <a:srgbClr val="1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308152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E0E0E0"/>
                </a:solidFill>
                <a:latin typeface="Calibri"/>
              </a:rPr>
              <a:t>Cotton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3063240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A0A8B8"/>
                </a:solidFill>
                <a:latin typeface="Calibri"/>
              </a:rPr>
              <a:t>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3401568"/>
            <a:ext cx="1106424" cy="265176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3429000"/>
            <a:ext cx="1691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E0E0E0"/>
                </a:solidFill>
                <a:latin typeface="Calibri"/>
              </a:rPr>
              <a:t>Tobacco-2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2112" y="34107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A0A8B8"/>
                </a:solidFill>
                <a:latin typeface="Calibri"/>
              </a:rPr>
              <a:t>22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3749040"/>
            <a:ext cx="754380" cy="265176"/>
          </a:xfrm>
          <a:prstGeom prst="rect">
            <a:avLst/>
          </a:prstGeom>
          <a:solidFill>
            <a:srgbClr val="2A8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377647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E0E0E0"/>
                </a:solidFill>
                <a:latin typeface="Calibri"/>
              </a:rPr>
              <a:t>Sweet B.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0068" y="375818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A0A8B8"/>
                </a:solidFill>
                <a:latin typeface="Calibri"/>
              </a:rPr>
              <a:t>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4096512"/>
            <a:ext cx="553212" cy="265176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412394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E0E0E0"/>
                </a:solidFill>
                <a:latin typeface="Calibri"/>
              </a:rPr>
              <a:t>Maize Seeds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28900" y="41056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A0A8B8"/>
                </a:solidFill>
                <a:latin typeface="Calibri"/>
              </a:rPr>
              <a:t>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4443984"/>
            <a:ext cx="402336" cy="265176"/>
          </a:xfrm>
          <a:prstGeom prst="rect">
            <a:avLst/>
          </a:prstGeom>
          <a:solidFill>
            <a:srgbClr val="165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447141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E0E0E0"/>
                </a:solidFill>
                <a:latin typeface="Calibri"/>
              </a:rPr>
              <a:t>Raw Ca.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78024" y="4453128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A0A8B8"/>
                </a:solidFill>
                <a:latin typeface="Calibri"/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0" y="4791456"/>
            <a:ext cx="251460" cy="265176"/>
          </a:xfrm>
          <a:prstGeom prst="rect">
            <a:avLst/>
          </a:prstGeom>
          <a:solidFill>
            <a:srgbClr val="1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4320" y="481888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dirty="0">
                <a:solidFill>
                  <a:srgbClr val="E0E0E0"/>
                </a:solidFill>
                <a:latin typeface="Calibri"/>
              </a:rPr>
              <a:t>Cane Or.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27148" y="4800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0A8B8"/>
                </a:solidFill>
                <a:latin typeface="Calibri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1344168"/>
            <a:ext cx="5394960" cy="5166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667512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D6FA4"/>
                </a:solidFill>
                <a:latin typeface="Calibri"/>
              </a:rPr>
              <a:t>WHY EXPORTS HAVE A CEILING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1828800"/>
            <a:ext cx="54864" cy="1261872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12280" y="18562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D6FA4"/>
                </a:solidFill>
                <a:latin typeface="Calibri"/>
              </a:rPr>
              <a:t>PRICE TAKER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2157984"/>
            <a:ext cx="4846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E0E0E0"/>
                </a:solidFill>
                <a:latin typeface="Calibri"/>
              </a:rPr>
              <a:t>Tobacco, maize, cotton are globally
priced commodities. Zambia has no
leverage on the USD price.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3401568"/>
            <a:ext cx="54864" cy="126187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12280" y="3429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4A261"/>
                </a:solidFill>
                <a:latin typeface="Calibri"/>
              </a:rPr>
              <a:t>2021 PEAK → 2022 DIP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730752"/>
            <a:ext cx="4846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E0E0E0"/>
                </a:solidFill>
                <a:latin typeface="Calibri"/>
              </a:rPr>
              <a:t>Exports hit K14.2bn (2021) but
FELL to K12.9bn (2022) — first sign
that currency tailwind can reverse.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4974336"/>
            <a:ext cx="54864" cy="1261872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12280" y="50017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C1121F"/>
                </a:solidFill>
                <a:latin typeface="Calibri"/>
              </a:rPr>
              <a:t>STRUCTURAL CAP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5303520"/>
            <a:ext cx="4846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E0E0E0"/>
                </a:solidFill>
                <a:latin typeface="Calibri"/>
              </a:rPr>
              <a:t>Without processing raw commodities
locally, export revenue upside is
limited regardless of volume.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5321808"/>
            <a:ext cx="594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F4A261"/>
                </a:solidFill>
                <a:latin typeface="Calibri"/>
              </a:rPr>
              <a:t>"When commodity prices fall, export revenue falls —
no matter what the Kwacha does."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5999356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C1121F"/>
                </a:solidFill>
                <a:latin typeface="Calibri"/>
              </a:rPr>
              <a:t>2021: K14.17bn  →  2022: K12.95bn  (-K1.22bn)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537960"/>
            <a:ext cx="10515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800" b="0" i="0" dirty="0">
                <a:solidFill>
                  <a:srgbClr val="A0A8B8"/>
                </a:solidFill>
                <a:latin typeface="Calibri"/>
              </a:rPr>
              <a:t>Data: Zambia Statistics Agency</a:t>
            </a:r>
            <a:endParaRPr sz="800" b="0" i="0" dirty="0">
              <a:solidFill>
                <a:srgbClr val="A0A8B8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8B8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017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Deficit Loop: How Trade Imbalance Deepens Currency Weakness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A0A8B8"/>
                </a:solidFill>
                <a:latin typeface="Calibri"/>
              </a:rPr>
              <a:t>THE SELF-REINFORCING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011680" cy="123444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Trade
Deficit
Grows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0A8B8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011680"/>
            <a:ext cx="2011680" cy="123444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88920" y="214884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Less USD
Inflow to
Zambia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0A8B8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2011680"/>
            <a:ext cx="2011680" cy="12344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214884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ZMW
Depreciates
Further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0A8B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011680"/>
            <a:ext cx="2011680" cy="123444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214884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Imports Cost
More in
ZMW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0A8B8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2011680"/>
            <a:ext cx="2011680" cy="123444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46920" y="214884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Deficit
Widens
Again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01568"/>
            <a:ext cx="11155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C1121F"/>
                </a:solidFill>
                <a:latin typeface="Calibri"/>
              </a:rPr>
              <a:t>⟲  This loop repeated every year from 2015 to 2022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94760"/>
            <a:ext cx="11430000" cy="274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3931920"/>
            <a:ext cx="2697480" cy="25420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3931920"/>
            <a:ext cx="2697480" cy="25603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9184" y="3959352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2013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" y="4251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C653"/>
                </a:solidFill>
                <a:latin typeface="Calibri"/>
              </a:rPr>
              <a:t>SURPLUS
+K1.2bn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" y="4937760"/>
            <a:ext cx="2560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E0E0E0"/>
                </a:solidFill>
                <a:latin typeface="Calibri"/>
              </a:rPr>
              <a:t>Exports &gt; Imports.
Surplus provides USD buffer.
ZMW relatively stable.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80" y="3931920"/>
            <a:ext cx="2697480" cy="25420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154680" y="3931920"/>
            <a:ext cx="2697480" cy="25603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9544" y="3959352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FFFFFF"/>
                </a:solidFill>
                <a:latin typeface="Calibri"/>
              </a:rPr>
              <a:t>2017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9544" y="4251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D04"/>
                </a:solidFill>
                <a:latin typeface="Calibri"/>
              </a:rPr>
              <a:t>DEFICIT
-K4.1bn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9544" y="4937760"/>
            <a:ext cx="2560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E0E0E0"/>
                </a:solidFill>
                <a:latin typeface="Calibri"/>
              </a:rPr>
              <a:t>First sustained deficit year.
Urea imports surge.
ZMW starts weakening.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931920"/>
            <a:ext cx="2697480" cy="25420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35040" y="3931920"/>
            <a:ext cx="2697480" cy="256032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89904" y="3959352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FFFFFF"/>
                </a:solidFill>
                <a:latin typeface="Calibri"/>
              </a:rPr>
              <a:t>2020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9904" y="4251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1121F"/>
                </a:solidFill>
                <a:latin typeface="Calibri"/>
              </a:rPr>
              <a:t>DEFICIT
-K5.8bn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9904" y="4937760"/>
            <a:ext cx="2560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E0E0E0"/>
                </a:solidFill>
                <a:latin typeface="Calibri"/>
              </a:rPr>
              <a:t>COVID shock. ZMW hits
~21/USD. Import costs
explode in ZMW terms.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15400" y="3931920"/>
            <a:ext cx="2697480" cy="25420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915400" y="3931920"/>
            <a:ext cx="2697480" cy="256032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70264" y="3959352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FFFFFF"/>
                </a:solidFill>
                <a:latin typeface="Calibri"/>
              </a:rPr>
              <a:t>2022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0264" y="4251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1121F"/>
                </a:solidFill>
                <a:latin typeface="Calibri"/>
              </a:rPr>
              <a:t>DEFICIT
-K9.3bn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0264" y="4937760"/>
            <a:ext cx="2560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E0E0E0"/>
                </a:solidFill>
                <a:latin typeface="Calibri"/>
              </a:rPr>
              <a:t>Exports FELL despite
rising ZMW weakness.
Loop is accelerating.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F4A261"/>
                </a:solidFill>
                <a:latin typeface="Calibri"/>
              </a:rPr>
              <a:t>"Without intervention, this is a self-reinforcing cycle."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537960"/>
            <a:ext cx="10515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800" b="0" i="0" dirty="0">
                <a:solidFill>
                  <a:srgbClr val="A0A8B8"/>
                </a:solidFill>
                <a:latin typeface="Calibri"/>
              </a:rPr>
              <a:t>Data: Zambia Statistics Agency</a:t>
            </a:r>
            <a:endParaRPr sz="800" b="0" i="0" dirty="0">
              <a:solidFill>
                <a:srgbClr val="A0A8B8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8B8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017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Three Priorities to Break the Deficit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98448"/>
            <a:ext cx="1161288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353312"/>
            <a:ext cx="11155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 dirty="0">
                <a:solidFill>
                  <a:srgbClr val="F4A261"/>
                </a:solidFill>
                <a:latin typeface="Calibri"/>
              </a:rPr>
              <a:t>The K33bn deficit is a structural warning. Currency management alone cannot fix what requires industrial diversification.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93392"/>
            <a:ext cx="3749039" cy="40050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993392"/>
            <a:ext cx="3749039" cy="9144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2157984"/>
            <a:ext cx="411480" cy="41148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76272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  <a:latin typeface="Calibri"/>
              </a:rPr>
              <a:t>Reduce Urea
Dependency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862072"/>
            <a:ext cx="3474719" cy="1828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" y="3090672"/>
            <a:ext cx="109728" cy="10972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2999232"/>
            <a:ext cx="32461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E0E0E0"/>
                </a:solidFill>
                <a:latin typeface="Calibri"/>
              </a:rPr>
              <a:t>Invest in domestic fertilizer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3749040"/>
            <a:ext cx="109728" cy="10972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3657600"/>
            <a:ext cx="3246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E0E0E0"/>
                </a:solidFill>
                <a:latin typeface="Calibri"/>
              </a:rPr>
              <a:t>Explore regional procurement in ZMW or barter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" y="4407408"/>
            <a:ext cx="109728" cy="10972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4315968"/>
            <a:ext cx="32461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E0E0E0"/>
                </a:solidFill>
                <a:latin typeface="Calibri"/>
              </a:rPr>
              <a:t>Subsidize alternative/organic inputs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5065776"/>
            <a:ext cx="109728" cy="10972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4974336"/>
            <a:ext cx="32461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E0E0E0"/>
                </a:solidFill>
                <a:latin typeface="Calibri"/>
              </a:rPr>
              <a:t>Reduce exposure to USD-priced inputs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19" y="1993392"/>
            <a:ext cx="3749039" cy="40050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60519" y="1993392"/>
            <a:ext cx="3749039" cy="91440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679" y="2157984"/>
            <a:ext cx="411480" cy="411480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97679" y="21579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8887" y="2176272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6FA4"/>
                </a:solidFill>
                <a:latin typeface="Calibri"/>
              </a:rPr>
              <a:t>Value-Add
Exports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79" y="2862072"/>
            <a:ext cx="3474719" cy="18288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25111" y="3090672"/>
            <a:ext cx="109728" cy="109728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07991" y="2999232"/>
            <a:ext cx="3246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E0E0E0"/>
                </a:solidFill>
                <a:latin typeface="Calibri"/>
              </a:rPr>
              <a:t>Process tobacco &amp; cotton locally before export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5111" y="3749040"/>
            <a:ext cx="109728" cy="109728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07991" y="3657600"/>
            <a:ext cx="32461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E0E0E0"/>
                </a:solidFill>
                <a:latin typeface="Calibri"/>
              </a:rPr>
              <a:t>Mill maize into flour for regional markets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5111" y="4407408"/>
            <a:ext cx="109728" cy="109728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07991" y="4315968"/>
            <a:ext cx="32461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E0E0E0"/>
                </a:solidFill>
                <a:latin typeface="Calibri"/>
              </a:rPr>
              <a:t>Capture more USD per unit exported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5111" y="5065776"/>
            <a:ext cx="109728" cy="109728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07991" y="4974336"/>
            <a:ext cx="32461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E0E0E0"/>
                </a:solidFill>
                <a:latin typeface="Calibri"/>
              </a:rPr>
              <a:t>Move from price-taker to price-setter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18" y="1993392"/>
            <a:ext cx="3749039" cy="40050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46718" y="1993392"/>
            <a:ext cx="3749039" cy="9144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183878" y="2157984"/>
            <a:ext cx="411480" cy="41148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83878" y="21579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05086" y="2176272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C653"/>
                </a:solidFill>
                <a:latin typeface="Calibri"/>
              </a:rPr>
              <a:t>Import
Substitution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78" y="2862072"/>
            <a:ext cx="3474719" cy="1828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11310" y="3090672"/>
            <a:ext cx="109728" cy="10972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94190" y="2999232"/>
            <a:ext cx="3246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E0E0E0"/>
                </a:solidFill>
                <a:latin typeface="Calibri"/>
              </a:rPr>
              <a:t>Develop local capacity for top import categories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11310" y="3749040"/>
            <a:ext cx="109728" cy="10972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94190" y="3657600"/>
            <a:ext cx="3246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E0E0E0"/>
                </a:solidFill>
                <a:latin typeface="Calibri"/>
              </a:rPr>
              <a:t>Reduce USD outflow on petroleum &amp; minerals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11310" y="4407408"/>
            <a:ext cx="109728" cy="10972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94190" y="4315968"/>
            <a:ext cx="3246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E0E0E0"/>
                </a:solidFill>
                <a:latin typeface="Calibri"/>
              </a:rPr>
              <a:t>Industrial policy targeting import-heavy sectors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11310" y="5065776"/>
            <a:ext cx="109728" cy="10972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94190" y="4974336"/>
            <a:ext cx="3246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E0E0E0"/>
                </a:solidFill>
                <a:latin typeface="Calibri"/>
              </a:rPr>
              <a:t>Regional trade agreements in local currencies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99632"/>
            <a:ext cx="12188952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8B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935</Words>
  <Application>Microsoft Office PowerPoint</Application>
  <PresentationFormat>Custom</PresentationFormat>
  <Paragraphs>214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Sinyinza</cp:lastModifiedBy>
  <cp:revision>17</cp:revision>
  <dcterms:created xsi:type="dcterms:W3CDTF">2013-01-27T09:14:16Z</dcterms:created>
  <dcterms:modified xsi:type="dcterms:W3CDTF">2026-06-15T11:05:51Z</dcterms:modified>
  <cp:category/>
</cp:coreProperties>
</file>